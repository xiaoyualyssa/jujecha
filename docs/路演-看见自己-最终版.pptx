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13.svg" ContentType="image/svg+xml"/>
  <Override PartName="/ppt/slides/media/image14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tableStyles" Target="tableStyles.xml"/><Relationship Id="rId10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评委老师好，我带来的项目叫「看见自己」，是一本每日觉察手账。它不是一个计划表，而是把情绪、身体感受，还有头脑里的想法，整理成一份结构化记录的分析工具。它专门为那些高敏感、容易内耗的人群设计。接下来用两分钟，把它讲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先看问题。人群里大约有百分之十五到二十的人是高敏感体质，他们每天都在经历三件事：大脑停不下来，夜里还在反复想白天是不是说错话了；情绪来了说不清到底是什么，等它过去只留下一句「我好累」；明明知道要爱自己，却不知道具体该怎么做。</a:t>
            </a:r>
          </a:p>
          <a:p>
            <a:r>
              <a:t>再看市面上的产品，有三个空白。计划表只关注「做什么」，不关心「怎么了」；普通日记没有结构，写着写着就成了流水账；冥想 App 只提供放松，缺少系统性的觉察框架。</a:t>
            </a:r>
          </a:p>
          <a:p>
            <a:r>
              <a:t>所以我想说的是，高敏感人群缺的从来不是自律，而是一个结构化的内心信号处理系统。这就是我们切入的点。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产品怎么做？三大模块，完成「觉察、理解、改变」的闭环。</a:t>
            </a:r>
          </a:p>
          <a:p>
            <a:r>
              <a:t>第一个模块，每日结构化记录，五到十分钟完成。八个字段引导你做一次完整的自我对话：日期自动生成；发生了什么，提示你不加评判；身体感受和情绪用下拉加自定义，喉咙紧、胸口闷、委屈、焦虑都能精准选中；再捕捉你当时的自动思维，区分冲动和理性；最后留两个温柔的入口——微小感动，还有今日自我关怀。</a:t>
            </a:r>
          </a:p>
          <a:p>
            <a:r>
              <a:t>第二个模块，自动复盘。每周每月一键生成情绪词云，一眼看出这周是焦虑多还是平静多；还有身体症状频率，提醒你身体在替你承受什么；微小感动合集，是你亲手攒下的能量快充包；成长趋势图，让你看见自己的进步。</a:t>
            </a:r>
          </a:p>
          <a:p>
            <a:r>
              <a:t>第三个模块，行动计划。发现反复困扰的问题，一键创建行动，设置截止日期和优先级，完成勾选，形成问题到行动到解决的完整闭环。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在这里不是替你写日记，而是帮你和自己对话。它承担三个角色。</a:t>
            </a:r>
          </a:p>
          <a:p>
            <a:r>
              <a:t>第一，情绪命名助手。你写一句「我今天很不舒服」，AI 会结合上下文帮你找到精准的词——是委屈、焦虑，还是无力？心理学研究表明，能准确命名情绪的人，情绪调节能力显著更强。</a:t>
            </a:r>
          </a:p>
          <a:p>
            <a:r>
              <a:t>第二，模式识别引擎。它每周每月自动分析你的全部记录，识别高频情绪、身体信号和触发场景，生成可视化报告，把「感觉」变成「数据」。</a:t>
            </a:r>
          </a:p>
          <a:p>
            <a:r>
              <a:t>第三，行动建议生成器。发现反复困扰的模式后，基于历史记录给你个性化的建议。比如它会说，过去两周你多次因为会议发言而焦虑，要不要试试提前准备一份发言提纲？</a:t>
            </a:r>
          </a:p>
          <a:p>
            <a:r>
              <a:t>这里有个参考，AI 日记应用 Rosebud 拿到了六百万美元的融资，它的核心理念就是同一个——用 AI 把静态记录变成动态对话。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最后讲 Token 优化。行业里 AI 推理费用往往占到总成本六成五以上，三成的项目因为 Token 消耗失控，被迫砍掉功能。我们要让 AI 能力可持续，而不是变成吞金兽，做了三件事。</a:t>
            </a:r>
          </a:p>
          <a:p>
            <a:r>
              <a:t>第一，结构化输入。情绪和身体感受用下拉选择，而不是自由文本，每次记录就能省下三到四成的 Prompt Token。</a:t>
            </a:r>
          </a:p>
          <a:p>
            <a:r>
              <a:t>第二，智能摘要。复盘的时候，AI 不读全部原始记录，而是读预处理过的结构化摘要，保留核心信息，扔掉冗余的推理链。</a:t>
            </a:r>
          </a:p>
          <a:p>
            <a:r>
              <a:t>第三，分层调用。日常记录完全走前端本地，用到 AI 的只有周报生成和用户主动触发的行动建议。</a:t>
            </a:r>
          </a:p>
          <a:p>
            <a:r>
              <a:t>效果很明显：单用户月均 AI 成本控制在两块钱以内，相比全自由文本方案，Token 消耗降低一半以上。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看见自己，是改变的开始。你值得被自己看见。谢谢各位评委老师。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2" Type="http://schemas.openxmlformats.org/officeDocument/2006/relationships/image" Target="media/image4.svg"/><Relationship Id="rId3" Type="http://schemas.openxmlformats.org/officeDocument/2006/relationships/image" Target="media/image5.svg"/><Relationship Id="rId4" Type="http://schemas.openxmlformats.org/officeDocument/2006/relationships/image" Target="media/image6.svg"/><Relationship Id="rId5" Type="http://schemas.openxmlformats.org/officeDocument/2006/relationships/image" Target="media/image7.svg"/><Relationship Id="rId6" Type="http://schemas.openxmlformats.org/officeDocument/2006/relationships/image" Target="media/image8.svg"/><Relationship Id="rId7" Type="http://schemas.openxmlformats.org/officeDocument/2006/relationships/image" Target="media/image9.svg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2" Type="http://schemas.openxmlformats.org/officeDocument/2006/relationships/image" Target="media/image11.svg"/><Relationship Id="rId3" Type="http://schemas.openxmlformats.org/officeDocument/2006/relationships/image" Target="media/image12.sv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3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4.sv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notes={`各位评委老师好，我带来的项目叫「看见自己」，是一本每日觉察手账。它不是一个计划表，而是把情绪、身体感受，还有头脑里的想法，整理成一份结构化记录的分析工具。它专门为那些高敏感、容易内耗的人群设计。接下来用两分钟，把它讲清楚。`} style={{ width: 1280, height: 720, background: '#FAF8F5', position: 'relative' }}&gt;&#10;  &lt;Image src=&quot;assets/cover_illustration.png&quot; style={{ position: 'absolute', top: 0, left: 0, width: 1280, height: 720, objectFit: 'cover', opacity: 0.55 }} /&gt;&#10;  &lt;Box style={{ position: 'absolute', top: 0, left: 0, width: 760, height: 720, background: 'linear-gradient(90deg, rgba(250,248,245,0.97) 0%, rgba(250,248,245,0.85) 55%, rgba(250,248,245,0) 100%)' }} /&gt;&#10;  &lt;Box style={{ position: 'relative', zIndex: 1, width: 700, height: 720, padding: '0 0 0 80px', flexDirection: 'column', justifyContent: 'center' }}&gt;&#10;    &lt;Box style={{ flexDirection: 'row', alignItems: 'center', gap: 10, marginBottom: 28 }}&gt;&#10;      &lt;Box style={{ height: 34, padding: '0 18px', background: '#F5E6E8', borderRadius: 17, justifyContent: 'center' }}&gt;&#10;        &lt;Text style={{ fontSize: 15, color: '#5A7D7C', letterSpacing: 1.5 }}&gt;心理健康 · 自我觉察工具&lt;/Text&gt;&#10;      &lt;/Box&gt;&#10;    &lt;/Box&gt;&#10;    &lt;Text style={{ fontSize: 80, fontWeight: 'bold', color: '#3F3B36', letterSpacing: 3, lineHeight: 1.12 }}&gt;看见自己&lt;/Text&gt;&#10;    &lt;Text style={{ fontSize: 40, fontWeight: 'bold', color: '#5A7D7C', letterSpacing: 5, lineHeight: 1.3, marginTop: 10 }}&gt;每日觉察手账&lt;/Text&gt;&#10;    &lt;Box style={{ width: 56, height: 5, background: '#C98A8A', borderRadius: 3, marginTop: 28, marginBottom: 24 }} /&gt;&#10;    &lt;Text style={{ fontSize: 22, color: '#4A6B6A', lineHeight: 1.6 }}&gt;&#10;      不是计划表，是 &lt;span style={{ fontWeight: 'bold', color: '#3F3B36' }}&gt;「情绪 + 身体 + 想法」&lt;/span&gt; 的结构化记录分析仪&#10;    &lt;/Text&gt;&#10;    &lt;Text style={{ fontSize: 17, color: '#8B8680', lineHeight: 1.7, marginTop: 30 }}&gt;&#10;      为高敏感、易内耗人群，情绪低落 · 焦虑 · 压力大人群&lt;br /&gt;设计的自我觉察工具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7239000" cy="6858000"/>
          </a:xfrm>
          <a:prstGeom prst="rect">
            <a:avLst/>
          </a:prstGeom>
          <a:gradFill>
            <a:gsLst>
              <a:gs pos="0">
                <a:srgbClr val="FAF8F5">
                  <a:alpha val="97000"/>
                </a:srgbClr>
              </a:gs>
              <a:gs pos="55000">
                <a:srgbClr val="FAF8F5">
                  <a:alpha val="85000"/>
                </a:srgbClr>
              </a:gs>
              <a:gs pos="100000">
                <a:srgbClr val="FAF8F5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762000" y="1323975"/>
            <a:ext cx="2114550" cy="323850"/>
          </a:xfrm>
          <a:prstGeom prst="roundRect">
            <a:avLst>
              <a:gd name="adj" fmla="val 50000"/>
            </a:avLst>
          </a:prstGeom>
          <a:solidFill>
            <a:srgbClr val="F5E6E8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33450" y="14001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13">
                <a:solidFill>
                  <a:srgbClr val="5A7D7C"/>
                </a:solidFill>
                <a:latin typeface="Microsoft YaHei"/>
                <a:ea typeface="Microsoft YaHei"/>
              </a:rPr>
              <a:t>心理健康</a:t>
            </a:r>
            <a:r>
              <a:rPr lang="en-US" sz="1125" spc="113">
                <a:solidFill>
                  <a:srgbClr val="5A7D7C"/>
                </a:solidFill>
                <a:latin typeface="Microsoft YaHei"/>
                <a:ea typeface="Microsoft YaHei"/>
              </a:rPr>
              <a:t> · </a:t>
            </a:r>
            <a:r>
              <a:rPr lang="zh-CN" sz="1125" spc="113">
                <a:solidFill>
                  <a:srgbClr val="5A7D7C"/>
                </a:solidFill>
                <a:latin typeface="Microsoft YaHei"/>
                <a:ea typeface="Microsoft YaHei"/>
              </a:rPr>
              <a:t>自我觉察工具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1914525"/>
            <a:ext cx="5905500" cy="10287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6000" b="1" spc="225">
                <a:solidFill>
                  <a:srgbClr val="3F3B36"/>
                </a:solidFill>
                <a:latin typeface="Microsoft YaHei"/>
                <a:ea typeface="Microsoft YaHei"/>
              </a:rPr>
              <a:t>看见自己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3038475"/>
            <a:ext cx="590550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 spc="375">
                <a:solidFill>
                  <a:srgbClr val="5A7D7C"/>
                </a:solidFill>
                <a:latin typeface="Microsoft YaHei"/>
                <a:ea typeface="Microsoft YaHei"/>
              </a:rPr>
              <a:t>每日觉察手账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762000" y="3905250"/>
            <a:ext cx="533400" cy="47625"/>
          </a:xfrm>
          <a:prstGeom prst="roundRect">
            <a:avLst>
              <a:gd name="adj" fmla="val 60000"/>
            </a:avLst>
          </a:prstGeom>
          <a:solidFill>
            <a:srgbClr val="C98A8A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4181475"/>
            <a:ext cx="59055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6B6A"/>
                </a:solidFill>
                <a:latin typeface="Microsoft YaHei"/>
                <a:ea typeface="Microsoft YaHei"/>
              </a:rPr>
              <a:t>不是计划表，是</a:t>
            </a:r>
            <a:r>
              <a:rPr lang="en-US" sz="1650">
                <a:solidFill>
                  <a:srgbClr val="4A6B6A"/>
                </a:solidFill>
                <a:latin typeface="Microsoft YaHei"/>
                <a:ea typeface="Microsoft YaHei"/>
              </a:rPr>
              <a:t> </a:t>
            </a:r>
            <a:r>
              <a:rPr lang="zh-CN" sz="1650" b="1">
                <a:solidFill>
                  <a:srgbClr val="3F3B36"/>
                </a:solidFill>
                <a:latin typeface="Microsoft YaHei"/>
                <a:ea typeface="Microsoft YaHei"/>
              </a:rPr>
              <a:t>「情绪</a:t>
            </a:r>
            <a:r>
              <a:rPr lang="en-US" sz="1650" b="1">
                <a:solidFill>
                  <a:srgbClr val="3F3B36"/>
                </a:solidFill>
                <a:latin typeface="Microsoft YaHei"/>
                <a:ea typeface="Microsoft YaHei"/>
              </a:rPr>
              <a:t> + </a:t>
            </a:r>
            <a:r>
              <a:rPr lang="zh-CN" sz="1650" b="1">
                <a:solidFill>
                  <a:srgbClr val="3F3B36"/>
                </a:solidFill>
                <a:latin typeface="Microsoft YaHei"/>
                <a:ea typeface="Microsoft YaHei"/>
              </a:rPr>
              <a:t>身体</a:t>
            </a:r>
            <a:r>
              <a:rPr lang="en-US" sz="1650" b="1">
                <a:solidFill>
                  <a:srgbClr val="3F3B36"/>
                </a:solidFill>
                <a:latin typeface="Microsoft YaHei"/>
                <a:ea typeface="Microsoft YaHei"/>
              </a:rPr>
              <a:t> + </a:t>
            </a:r>
            <a:r>
              <a:rPr lang="zh-CN" sz="1650" b="1">
                <a:solidFill>
                  <a:srgbClr val="3F3B36"/>
                </a:solidFill>
                <a:latin typeface="Microsoft YaHei"/>
                <a:ea typeface="Microsoft YaHei"/>
              </a:rPr>
              <a:t>想法」</a:t>
            </a:r>
            <a:r>
              <a:rPr lang="en-US" sz="1650">
                <a:solidFill>
                  <a:srgbClr val="4A6B6A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6B6A"/>
                </a:solidFill>
                <a:latin typeface="Microsoft YaHei"/>
                <a:ea typeface="Microsoft YaHei"/>
              </a:rPr>
              <a:t>的结构化记录分析仪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48768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8B8680"/>
                </a:solidFill>
                <a:latin typeface="Microsoft YaHei"/>
                <a:ea typeface="Microsoft YaHei"/>
              </a:rPr>
              <a:t>为高敏感、易内耗人群，情绪低落</a:t>
            </a:r>
            <a:r>
              <a:rPr lang="en-US" sz="1275">
                <a:solidFill>
                  <a:srgbClr val="8B868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8680"/>
                </a:solidFill>
                <a:latin typeface="Microsoft YaHei"/>
                <a:ea typeface="Microsoft YaHei"/>
              </a:rPr>
              <a:t>焦虑</a:t>
            </a:r>
            <a:r>
              <a:rPr lang="en-US" sz="1275">
                <a:solidFill>
                  <a:srgbClr val="8B868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8680"/>
                </a:solidFill>
                <a:latin typeface="Microsoft YaHei"/>
                <a:ea typeface="Microsoft YaHei"/>
              </a:rPr>
              <a:t>压力大人群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8B8680"/>
                </a:solidFill>
                <a:latin typeface="Microsoft YaHei"/>
                <a:ea typeface="Microsoft YaHei"/>
              </a:rPr>
              <a:t>设计的自我觉察工具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" name="" descr="&lt;Slide notes={`我们先看问题。人群里大约有百分之十五到二十的人是高敏感体质，他们每天都在经历三件事：大脑停不下来，夜里还在反复想白天是不是说错话了；情绪来了说不清到底是什么，等它过去只留下一句「我好累」；明明知道要爱自己，却不知道具体该怎么做。&#10;&#10;再看市面上的产品，有三个空白。计划表只关注「做什么」，不关心「怎么了」；普通日记没有结构，写着写着就成了流水账；冥想 App 只提供放松，缺少系统性的觉察框架。&#10;&#10;所以我想说的是，高敏感人群缺的从来不是自律，而是一个结构化的内心信号处理系统。这就是我们切入的点。`} style={{ width: 1280, height: 720, background: '#FAF8F5', padding: '0 80px' }}&gt;&#10;  {/* A 标题块 */}&#10;  &lt;Box style={{ height: 120, paddingTop: 24, justifyContent: 'center' }}&gt;&#10;    &lt;Text style={{ fontSize: 34, fontWeight: 'bold', color: '#3F3B36', letterSpacing: 1 }}&gt;我们面对什么问题？&lt;/Text&gt;&#10;  &lt;/Box&gt;&#10;  {/* B 内容区：非对称双栏 55:45 */}&#10;  &lt;Box style={{ height: 440, flexDirection: 'row', alignItems: 'stretch', gap: 28 }}&gt;&#10;    {/* 左：困境 */}&#10;    &lt;Box style={{ flex: 55, borderRadius: 20, background: '#FFFFFF', border: '1px solid rgba(90,125,124,0.15)', padding: 28, flexDirection: 'column' }}&gt;&#10;      &lt;Box style={{ flexDirection: 'row', alignItems: 'center', gap: 12, marginBottom: 16 }}&gt;&#10;        &lt;Box style={{ width: 40, height: 40, borderRadius: 12, background: '#F5E6E8', justifyContent: 'center', alignItems: 'center' }}&gt;&#10;          &lt;FAIcon name='user-circle' style={{ fill: '#C98A8A', width: 22, height: 22 }} /&gt;&#10;        &lt;/Box&gt;&#10;        &lt;Text style={{ fontSize: 21, fontWeight: 600, color: '#3F3B36' }}&gt;高敏感人群（约占 15–20%）的日常&lt;/Text&gt;&#10;      &lt;/Box&gt;&#10;      {[&#10;        '大脑停不下来，夜里还在反复想「今天是不是说错话了」',&#10;        '情绪来了说不清是什么，走了只留下「我好累」',&#10;        '知道要爱自己，但不知道具体怎么做',&#10;      ].map((t) =&gt; (&#10;        &lt;Box key={t} style={{ flexDirection: 'row', alignItems: 'flex-start', gap: 10, marginBottom: 14 }}&gt;&#10;          &lt;Text style={{ fontSize: 18, color: '#C98A8A', lineHeight: 1.6 }}&gt;·&lt;/Text&gt;&#10;          &lt;Text style={{ fontSize: 18, color: '#4A4A44', lineHeight: 1.6, flex: 1 }}&gt;{t}&lt;/Text&gt;&#10;        &lt;/Box&gt;&#10;      ))}&#10;    &lt;/Box&gt;&#10;    {/* 右：市面空白 */}&#10;    &lt;Box style={{ flex: 45, borderRadius: 20, background: '#E8EEF2', padding: 28, flexDirection: 'column' }}&gt;&#10;      &lt;Text style={{ fontSize: 21, fontWeight: 600, color: '#3F3B36', marginBottom: 16 }}&gt;市面产品的空白&lt;/Text&gt;&#10;      {[&#10;        { k: '计划表', v: '关注「做什么」，不关注「怎么了」' },&#10;        { k: '普通日记', v: '没有结构，容易写成流水账' },&#10;        { k: '冥想 App', v: '提供放松，缺系统觉察框架' },&#10;      ].map((it) =&gt; (&#10;        &lt;Box key={it.k} style={{ flexDirection: 'row', alignItems: 'flex-start', gap: 10, marginBottom: 14 }}&gt;&#10;          &lt;Text style={{ fontSize: 18, fontWeight: 600, color: '#5A7D7C', flexShrink: 0 }}&gt;{it.k}&lt;/Text&gt;&#10;          &lt;Text style={{ fontSize: 17, color: '#5A7D7C', lineHeight: 1.55, flex: 1 }}&gt;{it.v}&lt;/Text&gt;&#10;        &lt;/Box&gt;&#10;      ))}&#10;    &lt;/Box&gt;&#10;  &lt;/Box&gt;&#10;  {/* 底部金句条 */}&#10;  &lt;Box style={{ height: 100, borderRadius: 16, background: 'linear-gradient(135deg, #5A7D7C 0%, #4A6B6A 100%)', flexDirection: 'row', alignItems: 'center', justifyContent: 'center', padding: '0 30px' }}&gt;&#10;    &lt;Text style={{ fontSize: 24, fontWeight: 600, color: '#FFFFFF', letterSpacing: 1 }}&gt;&#10;      高敏感人群缺的不是自律，是一个结构化的「内心信号处理系统」&#10;    &lt;/Text&gt;&#10;  &lt;/Box&gt;&#10;  {/* C 页脚条 */}&#10;  &lt;Box style={{ height: 60, flexDirection: 'row', alignItems: 'center', justifyContent: 'space-between', paddingBottom: 20 }}&gt;&#10;    &lt;Text style={{ fontSize: 14, color: '#8B8680' }}&gt;看见自己 · 每日觉察手账&lt;/Text&gt;&#10;    &lt;Text style={{ fontSize: 14, color: '#8B8680' }}&gt;02 / 0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495300"/>
            <a:ext cx="10668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75">
                <a:solidFill>
                  <a:srgbClr val="3F3B36"/>
                </a:solidFill>
                <a:latin typeface="Microsoft YaHei"/>
                <a:ea typeface="Microsoft YaHei"/>
              </a:rPr>
              <a:t>我们面对什么问题？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762000" y="1143000"/>
            <a:ext cx="5724525" cy="4191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5A7D7C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1028700" y="14097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5E6E8"/>
          </a:solidFill>
          <a:ln/>
        </p:spPr>
        <p:txBody>
          <a:bodyPr/>
          <a:p/>
        </p:txBody>
      </p:sp>
      <p:pic>
        <p:nvPicPr>
          <p:cNvPr id="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" y="1495425"/>
            <a:ext cx="209550" cy="209550"/>
          </a:xfrm>
          <a:prstGeom prst="rect">
            <a:avLst/>
          </a:prstGeom>
          <a:ln/>
        </p:spPr>
      </p:pic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524000" y="1476375"/>
            <a:ext cx="3228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3F3B36"/>
                </a:solidFill>
                <a:latin typeface="Microsoft YaHei"/>
                <a:ea typeface="Microsoft YaHei"/>
              </a:rPr>
              <a:t>高敏感人群（约占</a:t>
            </a:r>
            <a:r>
              <a:rPr lang="en-US" sz="1575" b="1">
                <a:solidFill>
                  <a:srgbClr val="3F3B36"/>
                </a:solidFill>
                <a:latin typeface="Microsoft YaHei"/>
                <a:ea typeface="Microsoft YaHei"/>
              </a:rPr>
              <a:t> 15–20%</a:t>
            </a:r>
            <a:r>
              <a:rPr lang="zh-CN" sz="1575" b="1">
                <a:solidFill>
                  <a:srgbClr val="3F3B36"/>
                </a:solidFill>
                <a:latin typeface="Microsoft YaHei"/>
                <a:ea typeface="Microsoft YaHei"/>
              </a:rPr>
              <a:t>）的日常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28700" y="1943100"/>
            <a:ext cx="571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sz="1350">
                <a:solidFill>
                  <a:srgbClr val="C98A8A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81100" y="1943100"/>
            <a:ext cx="503872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4A44"/>
                </a:solidFill>
                <a:latin typeface="Microsoft YaHei"/>
                <a:ea typeface="Microsoft YaHei"/>
              </a:rPr>
              <a:t>大脑停不下来，夜里还在反复想「今天是不是说错话了」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28700" y="2409825"/>
            <a:ext cx="571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sz="1350">
                <a:solidFill>
                  <a:srgbClr val="C98A8A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81100" y="2409825"/>
            <a:ext cx="503872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4A44"/>
                </a:solidFill>
                <a:latin typeface="Microsoft YaHei"/>
                <a:ea typeface="Microsoft YaHei"/>
              </a:rPr>
              <a:t>情绪来了说不清是什么，走了只留下「我好累」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28700" y="2876550"/>
            <a:ext cx="571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sz="1350">
                <a:solidFill>
                  <a:srgbClr val="C98A8A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81100" y="2876550"/>
            <a:ext cx="503872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4A44"/>
                </a:solidFill>
                <a:latin typeface="Microsoft YaHei"/>
                <a:ea typeface="Microsoft YaHei"/>
              </a:rPr>
              <a:t>知道要爱自己，但不知道具体怎么做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753225" y="1143000"/>
            <a:ext cx="4676775" cy="4191000"/>
          </a:xfrm>
          <a:prstGeom prst="roundRect">
            <a:avLst>
              <a:gd name="adj" fmla="val 4545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019925" y="1409700"/>
            <a:ext cx="4143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3F3B36"/>
                </a:solidFill>
                <a:latin typeface="Microsoft YaHei"/>
                <a:ea typeface="Microsoft YaHei"/>
              </a:rPr>
              <a:t>市面产品的空白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019925" y="1809750"/>
            <a:ext cx="53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A7D7C"/>
                </a:solidFill>
                <a:latin typeface="Microsoft YaHei"/>
                <a:ea typeface="Microsoft YaHei"/>
              </a:rPr>
              <a:t>计划表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648575" y="1809750"/>
            <a:ext cx="351472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5A7D7C"/>
                </a:solidFill>
                <a:latin typeface="Microsoft YaHei"/>
                <a:ea typeface="Microsoft YaHei"/>
              </a:rPr>
              <a:t>关注「做什么」，不关注「怎么了」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019925" y="2247900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A7D7C"/>
                </a:solidFill>
                <a:latin typeface="Microsoft YaHei"/>
                <a:ea typeface="Microsoft YaHei"/>
              </a:rPr>
              <a:t>普通日记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820025" y="2247900"/>
            <a:ext cx="334327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5A7D7C"/>
                </a:solidFill>
                <a:latin typeface="Microsoft YaHei"/>
                <a:ea typeface="Microsoft YaHei"/>
              </a:rPr>
              <a:t>没有结构，容易写成流水账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019925" y="2686050"/>
            <a:ext cx="733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A7D7C"/>
                </a:solidFill>
                <a:latin typeface="Microsoft YaHei"/>
                <a:ea typeface="Microsoft YaHei"/>
              </a:rPr>
              <a:t>冥想</a:t>
            </a:r>
            <a:r>
              <a:rPr lang="en-US" sz="1350" b="1">
                <a:solidFill>
                  <a:srgbClr val="5A7D7C"/>
                </a:solidFill>
                <a:latin typeface="Microsoft YaHei"/>
                <a:ea typeface="Microsoft YaHei"/>
              </a:rPr>
              <a:t> App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848600" y="2686050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5A7D7C"/>
                </a:solidFill>
                <a:latin typeface="Microsoft YaHei"/>
                <a:ea typeface="Microsoft YaHei"/>
              </a:rPr>
              <a:t>提供放松，缺系统觉察框架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762000" y="5334000"/>
            <a:ext cx="10668000" cy="952500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5A7D7C"/>
              </a:gs>
              <a:gs pos="100000">
                <a:srgbClr val="4A6B6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600325" y="5676900"/>
            <a:ext cx="7000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75">
                <a:solidFill>
                  <a:srgbClr val="FFFFFF"/>
                </a:solidFill>
                <a:latin typeface="Microsoft YaHei"/>
                <a:ea typeface="Microsoft YaHei"/>
              </a:rPr>
              <a:t>高敏感人群缺的不是自律，是一个结构化的「内心信号处理系统」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看见自己</a:t>
            </a: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每日觉察手账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02 / 06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7" name="" descr="&lt;Slide notes={`产品怎么做？三大模块，完成「觉察、理解、改变」的闭环。&#10;&#10;第一个模块，每日结构化记录，五到十分钟完成。八个字段引导你做一次完整的自我对话：日期自动生成；发生了什么，提示你不加评判；身体感受和情绪用下拉加自定义，喉咙紧、胸口闷、委屈、焦虑都能精准选中；再捕捉你当时的自动思维，区分冲动和理性；最后留两个温柔的入口——微小感动，还有今日自我关怀。&#10;&#10;第二个模块，自动复盘。每周每月一键生成情绪词云，一眼看出这周是焦虑多还是平静多；还有身体症状频率，提醒你身体在替你承受什么；微小感动合集，是你亲手攒下的能量快充包；成长趋势图，让你看见自己的进步。&#10;&#10;第三个模块，行动计划。发现反复困扰的问题，一键创建行动，设置截止日期和优先级，完成勾选，形成问题到行动到解决的完整闭环。`} style={{ width: 1280, height: 720, background: '#FAF8F5', padding: '0 60px' }}&gt;&#10;  {/* A 标题块 */}&#10;  &lt;Box style={{ height: 110, paddingTop: 22, justifyContent: 'center' }}&gt;&#10;    &lt;Text style={{ fontSize: 32, fontWeight: 'bold', color: '#3F3B36', letterSpacing: 1 }}&gt;三大模块，完成「觉察 → 理解 → 改变」的闭环&lt;/Text&gt;&#10;  &lt;/Box&gt;&#10;  {/* B 内容区：三列卡片 */}&#10;  &lt;Box style={{ height: 550, flexDirection: 'row', alignItems: 'stretch', gap: 20 }}&gt;&#10;    {/* 模块一 */}&#10;    &lt;Box style={{ flex: 1, borderRadius: 20, background: '#FFFFFF', border: '1px solid rgba(90,125,124,0.15)', padding: 22, flexDirection: 'column' }}&gt;&#10;      &lt;Box style={{ flexDirection: 'row', alignItems: 'center', gap: 10, marginBottom: 12 }}&gt;&#10;        &lt;Box style={{ width: 38, height: 38, borderRadius: 12, background: '#F5E6E8', justifyContent: 'center', alignItems: 'center' }}&gt;&#10;          &lt;FAIcon name='pen' style={{ fill: '#C98A8A', width: 20, height: 20 }} /&gt;&#10;        &lt;/Box&gt;&#10;        &lt;Box style={{ flex: 1 }}&gt;&#10;          &lt;Text style={{ fontSize: 20, fontWeight: 600, color: '#3F3B36' }}&gt;每日结构化记录&lt;/Text&gt;&#10;          &lt;Text style={{ fontSize: 14, color: '#8B8680' }}&gt;5–10 分钟 · 8 个字段&lt;/Text&gt;&#10;        &lt;/Box&gt;&#10;      &lt;/Box&gt;&#10;      &lt;Box style={{ flexDirection: 'column', gap: 7, flex: 1 }}&gt;&#10;        {[&#10;          '日期 / 时间 · 自动生成',&#10;          '发生了什么 · 不加评判',&#10;          '身体感受 · 下拉+自定义',&#10;          '情绪 · 下拉+自定义',&#10;          '当时怎么想 · 自动思维',&#10;          '做了什么 / 打算做什么',&#10;          '微小感动 · 温馨提醒',&#10;          '今日自我关怀 · 微小善行',&#10;        ].map((t) =&gt; (&#10;          &lt;Box key={t} style={{ flexDirection: 'row', alignItems: 'flex-start', gap: 8 }}&gt;&#10;            &lt;Text style={{ fontSize: 15, color: '#5A7D7C', lineHeight: 1.5, flexShrink: 0 }}&gt;·&lt;/Text&gt;&#10;            &lt;Text style={{ fontSize: 15, color: '#4A4A44', lineHeight: 1.5, flex: 1 }}&gt;{t}&lt;/Text&gt;&#10;          &lt;/Box&gt;&#10;        ))}&#10;      &lt;/Box&gt;&#10;    &lt;/Box&gt;&#10;    {/* 模块二 */}&#10;    &lt;Box style={{ flex: 1, borderRadius: 20, background: '#E8EEF2', padding: 22, flexDirection: 'column' }}&gt;&#10;      &lt;Box style={{ flexDirection: 'row', alignItems: 'center', gap: 10, marginBottom: 12 }}&gt;&#10;        &lt;Box style={{ width: 38, height: 38, borderRadius: 12, background: '#FFFFFF', justifyContent: 'center', alignItems: 'center' }}&gt;&#10;          &lt;FAIcon name='chart-pie' style={{ fill: '#5A7D7C', width: 20, height: 20 }} /&gt;&#10;        &lt;/Box&gt;&#10;        &lt;Box style={{ flex: 1 }}&gt;&#10;          &lt;Text style={{ fontSize: 20, fontWeight: 600, color: '#3F3B36' }}&gt;自动复盘&lt;/Text&gt;&#10;          &lt;Text style={{ fontSize: 14, color: '#8B8680' }}&gt;每周 / 每月 · 一键生成&lt;/Text&gt;&#10;        &lt;/Box&gt;&#10;      &lt;/Box&gt;&#10;      &lt;Box style={{ flexDirection: 'column', gap: 14, flex: 1 }}&gt;&#10;        {[&#10;          { icon: 'cloud', t: '情绪词云', d: '一眼看出本周是「焦虑」多还是「平静」多' },&#10;          { icon: 'heart-pulse', t: '身体症状频率', d: '提醒你身体在替你承受什么' },&#10;          { icon: 'wand-magic-sparkles', t: '微小感动合集', d: '你亲手写的「能量快充包」' },&#10;          { icon: 'chart-line', t: '成长趋势图', d: '看见自己的进步曲线' },&#10;        ].map((it) =&gt; (&#10;          &lt;Box key={it.t} style={{ flexDirection: 'row', alignItems: 'flex-start', gap: 10 }}&gt;&#10;            &lt;Box style={{ width: 30, height: 30, borderRadius: 10, background: '#FFFFFF', justifyContent: 'center', alignItems: 'center', flexShrink: 0 }}&gt;&#10;              &lt;FAIcon name={it.icon} style={{ fill: '#5A7D7C', width: 16, height: 16 }} /&gt;&#10;            &lt;/Box&gt;&#10;            &lt;Box style={{ flex: 1 }}&gt;&#10;              &lt;Text style={{ fontSize: 16, fontWeight: 600, color: '#3F3B36' }}&gt;{it.t}&lt;/Text&gt;&#10;              &lt;Text style={{ fontSize: 14, color: '#5A7D7C', lineHeight: 1.5 }}&gt;{it.d}&lt;/Text&gt;&#10;            &lt;/Box&gt;&#10;          &lt;/Box&gt;&#10;        ))}&#10;      &lt;/Box&gt;&#10;    &lt;/Box&gt;&#10;    {/* 模块三 */}&#10;    &lt;Box style={{ flex: 1, borderRadius: 20, background: '#5A7D7C', padding: 22, flexDirection: 'column' }}&gt;&#10;      &lt;Box style={{ flexDirection: 'row', alignItems: 'center', gap: 10, marginBottom: 12 }}&gt;&#10;        &lt;Box style={{ width: 38, height: 38, borderRadius: 12, background: 'rgba(255,255,255,0.16)', justifyContent: 'center', alignItems: 'center' }}&gt;&#10;          &lt;FAIcon name='flag' style={{ fill: '#FFFFFF', width: 20, height: 20 }} /&gt;&#10;        &lt;/Box&gt;&#10;        &lt;Box style={{ flex: 1 }}&gt;&#10;          &lt;Text style={{ fontSize: 20, fontWeight: 600, color: '#FFFFFF' }}&gt;行动计划&lt;/Text&gt;&#10;          &lt;Text style={{ fontSize: 14, color: '#E8F2F1' }}&gt;问题 → 行动 → 解决&lt;/Text&gt;&#10;        &lt;/Box&gt;&#10;      &lt;/Box&gt;&#10;      &lt;Box style={{ flexDirection: 'column', gap: 11, flex: 1 }}&gt;&#10;        {[&#10;          '发现反复困扰的问题',&#10;          '一键创建行动',&#10;          '设置截止日期 + 优先级',&#10;          '完成勾选',&#10;          '形成「问题→行动→解决」闭环',&#10;        ].map((t, i) =&gt; (&#10;          &lt;Box key={t} style={{ flexDirection: 'row', alignItems: 'center', gap: 10 }}&gt;&#10;            &lt;Box style={{ width: 24, height: 24, borderRadius: 12, background: 'rgba(255,255,255,0.18)', justifyContent: 'center', alignItems: 'center' }}&gt;&#10;              &lt;Text style={{ fontSize: 13, fontWeight: 'bold', color: '#FFFFFF' }}&gt;{i + 1}&lt;/Text&gt;&#10;            &lt;/Box&gt;&#10;            &lt;Text style={{ fontSize: 15, color: '#FFFFFF', lineHeight: 1.5, flex: 1 }}&gt;{t}&lt;/Text&gt;&#10;          &lt;/Box&gt;&#10;        ))}&#10;      &lt;/Box&gt;&#10;    &lt;/Box&gt;&#10;  &lt;/Box&gt;&#10;  {/* C 页脚条 */}&#10;  &lt;Box style={{ height: 60, flexDirection: 'row', alignItems: 'center', justifyContent: 'space-between', paddingBottom: 20 }}&gt;&#10;    &lt;Text style={{ fontSize: 14, color: '#8B8680' }}&gt;看见自己 · 每日觉察手账&lt;/Text&gt;&#10;    &lt;Text style={{ fontSize: 14, color: '#8B8680' }}&gt;03 / 0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71500" y="447675"/>
            <a:ext cx="11049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75">
                <a:solidFill>
                  <a:srgbClr val="3F3B36"/>
                </a:solidFill>
                <a:latin typeface="Microsoft YaHei"/>
                <a:ea typeface="Microsoft YaHei"/>
              </a:rPr>
              <a:t>三大模块，完成「觉察</a:t>
            </a:r>
            <a:r>
              <a:rPr lang="en-US" sz="2400" b="1" spc="75">
                <a:solidFill>
                  <a:srgbClr val="3F3B36"/>
                </a:solidFill>
                <a:latin typeface="Microsoft YaHei"/>
                <a:ea typeface="Microsoft YaHei"/>
              </a:rPr>
              <a:t> → </a:t>
            </a:r>
            <a:r>
              <a:rPr lang="zh-CN" sz="2400" b="1" spc="75">
                <a:solidFill>
                  <a:srgbClr val="3F3B36"/>
                </a:solidFill>
                <a:latin typeface="Microsoft YaHei"/>
                <a:ea typeface="Microsoft YaHei"/>
              </a:rPr>
              <a:t>理解</a:t>
            </a:r>
            <a:r>
              <a:rPr lang="en-US" sz="2400" b="1" spc="75">
                <a:solidFill>
                  <a:srgbClr val="3F3B36"/>
                </a:solidFill>
                <a:latin typeface="Microsoft YaHei"/>
                <a:ea typeface="Microsoft YaHei"/>
              </a:rPr>
              <a:t> → </a:t>
            </a:r>
            <a:r>
              <a:rPr lang="zh-CN" sz="2400" b="1" spc="75">
                <a:solidFill>
                  <a:srgbClr val="3F3B36"/>
                </a:solidFill>
                <a:latin typeface="Microsoft YaHei"/>
                <a:ea typeface="Microsoft YaHei"/>
              </a:rPr>
              <a:t>改变」的闭环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71500" y="1047750"/>
            <a:ext cx="3552825" cy="5238750"/>
          </a:xfrm>
          <a:prstGeom prst="roundRect">
            <a:avLst>
              <a:gd name="adj" fmla="val 5362"/>
            </a:avLst>
          </a:prstGeom>
          <a:solidFill>
            <a:srgbClr val="FFFFFF"/>
          </a:solidFill>
          <a:ln w="12700">
            <a:solidFill>
              <a:srgbClr val="5A7D7C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781050" y="1276350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F5E6E8"/>
          </a:solidFill>
          <a:ln/>
        </p:spPr>
        <p:txBody>
          <a:bodyPr/>
          <a:p/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66775" y="1362075"/>
            <a:ext cx="190500" cy="190500"/>
          </a:xfrm>
          <a:prstGeom prst="rect">
            <a:avLst/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238250" y="1257300"/>
            <a:ext cx="2676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F3B36"/>
                </a:solidFill>
                <a:latin typeface="Microsoft YaHei"/>
                <a:ea typeface="Microsoft YaHei"/>
              </a:rPr>
              <a:t>每日结构化记录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238250" y="1485900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5–10 </a:t>
            </a: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分钟</a:t>
            </a: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 · 8 </a:t>
            </a: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个字段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81050" y="1762125"/>
            <a:ext cx="47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125">
                <a:solidFill>
                  <a:srgbClr val="5A7D7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04875" y="1762125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日期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时间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自动生成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81050" y="2085975"/>
            <a:ext cx="47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125">
                <a:solidFill>
                  <a:srgbClr val="5A7D7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04875" y="2085975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发生了什么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不加评判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81050" y="2409825"/>
            <a:ext cx="47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125">
                <a:solidFill>
                  <a:srgbClr val="5A7D7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04875" y="2409825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身体感受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下拉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+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自定义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81050" y="2733675"/>
            <a:ext cx="47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125">
                <a:solidFill>
                  <a:srgbClr val="5A7D7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04875" y="2733675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情绪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下拉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+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自定义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81050" y="3057525"/>
            <a:ext cx="47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125">
                <a:solidFill>
                  <a:srgbClr val="5A7D7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04875" y="3057525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当时怎么想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自动思维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81050" y="3381375"/>
            <a:ext cx="47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125">
                <a:solidFill>
                  <a:srgbClr val="5A7D7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04875" y="3381375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做了什么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打算做什么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81050" y="3705225"/>
            <a:ext cx="47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125">
                <a:solidFill>
                  <a:srgbClr val="5A7D7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904875" y="3705225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微小感动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温馨提醒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81050" y="4029075"/>
            <a:ext cx="47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125">
                <a:solidFill>
                  <a:srgbClr val="5A7D7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04875" y="4029075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今日自我关怀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微小善行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314825" y="1047750"/>
            <a:ext cx="3562350" cy="5238750"/>
          </a:xfrm>
          <a:prstGeom prst="roundRect">
            <a:avLst>
              <a:gd name="adj" fmla="val 5348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4524375" y="1276350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10100" y="1362075"/>
            <a:ext cx="190500" cy="19050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981575" y="1257300"/>
            <a:ext cx="2686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F3B36"/>
                </a:solidFill>
                <a:latin typeface="Microsoft YaHei"/>
                <a:ea typeface="Microsoft YaHei"/>
              </a:rPr>
              <a:t>自动复盘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981575" y="1485900"/>
            <a:ext cx="2686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每周</a:t>
            </a: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每月</a:t>
            </a: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一键生成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4524375" y="176212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91050" y="1828800"/>
            <a:ext cx="152400" cy="1524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905375" y="1762125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F3B36"/>
                </a:solidFill>
                <a:latin typeface="Microsoft YaHei"/>
                <a:ea typeface="Microsoft YaHei"/>
              </a:rPr>
              <a:t>情绪词云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905375" y="1952625"/>
            <a:ext cx="276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7D7C"/>
                </a:solidFill>
                <a:latin typeface="Microsoft YaHei"/>
                <a:ea typeface="Microsoft YaHei"/>
              </a:rPr>
              <a:t>一眼看出本周是「焦虑」多还是「平静」多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524375" y="233362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91050" y="2400300"/>
            <a:ext cx="152400" cy="15240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905375" y="2333625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F3B36"/>
                </a:solidFill>
                <a:latin typeface="Microsoft YaHei"/>
                <a:ea typeface="Microsoft YaHei"/>
              </a:rPr>
              <a:t>身体症状频率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905375" y="2524125"/>
            <a:ext cx="276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7D7C"/>
                </a:solidFill>
                <a:latin typeface="Microsoft YaHei"/>
                <a:ea typeface="Microsoft YaHei"/>
              </a:rPr>
              <a:t>提醒你身体在替你承受什么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524375" y="290512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591050" y="2971800"/>
            <a:ext cx="152400" cy="152400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905375" y="2905125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F3B36"/>
                </a:solidFill>
                <a:latin typeface="Microsoft YaHei"/>
                <a:ea typeface="Microsoft YaHei"/>
              </a:rPr>
              <a:t>微小感动合集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905375" y="3095625"/>
            <a:ext cx="276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7D7C"/>
                </a:solidFill>
                <a:latin typeface="Microsoft YaHei"/>
                <a:ea typeface="Microsoft YaHei"/>
              </a:rPr>
              <a:t>你亲手写的「能量快充包」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4524375" y="347662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591050" y="3543300"/>
            <a:ext cx="152400" cy="152400"/>
          </a:xfrm>
          <a:prstGeom prst="rect">
            <a:avLst/>
          </a:prstGeom>
          <a:ln/>
        </p:spPr>
      </p:pic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905375" y="3476625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F3B36"/>
                </a:solidFill>
                <a:latin typeface="Microsoft YaHei"/>
                <a:ea typeface="Microsoft YaHei"/>
              </a:rPr>
              <a:t>成长趋势图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905375" y="3667125"/>
            <a:ext cx="2762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A7D7C"/>
                </a:solidFill>
                <a:latin typeface="Microsoft YaHei"/>
                <a:ea typeface="Microsoft YaHei"/>
              </a:rPr>
              <a:t>看见自己的进步曲线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8067675" y="1047750"/>
            <a:ext cx="3552825" cy="5238750"/>
          </a:xfrm>
          <a:prstGeom prst="roundRect">
            <a:avLst>
              <a:gd name="adj" fmla="val 5362"/>
            </a:avLst>
          </a:prstGeom>
          <a:solidFill>
            <a:srgbClr val="5A7D7C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8277225" y="1276350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8362950" y="1362075"/>
            <a:ext cx="190500" cy="19050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734425" y="1257300"/>
            <a:ext cx="2676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行动计划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734425" y="1485900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F2F1"/>
                </a:solidFill>
                <a:latin typeface="Microsoft YaHei"/>
                <a:ea typeface="Microsoft YaHei"/>
              </a:rPr>
              <a:t>问题</a:t>
            </a:r>
            <a:r>
              <a:rPr lang="en-US" sz="1050">
                <a:solidFill>
                  <a:srgbClr val="E8F2F1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E8F2F1"/>
                </a:solidFill>
                <a:latin typeface="Microsoft YaHei"/>
                <a:ea typeface="Microsoft YaHei"/>
              </a:rPr>
              <a:t>行动</a:t>
            </a:r>
            <a:r>
              <a:rPr lang="en-US" sz="1050">
                <a:solidFill>
                  <a:srgbClr val="E8F2F1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E8F2F1"/>
                </a:solidFill>
                <a:latin typeface="Microsoft YaHei"/>
                <a:ea typeface="Microsoft YaHei"/>
              </a:rPr>
              <a:t>解决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8277225" y="1781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353425" y="18192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601075" y="1762125"/>
            <a:ext cx="2809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发现反复困扰的问题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8277225" y="2143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53425" y="21812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601075" y="2124075"/>
            <a:ext cx="2809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一键创建行动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8277225" y="2505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53425" y="25431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601075" y="2486025"/>
            <a:ext cx="2809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设置截止日期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优先级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277225" y="2867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53425" y="29051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601075" y="2847975"/>
            <a:ext cx="2809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完成勾选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277225" y="32289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53425" y="32670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601075" y="3209925"/>
            <a:ext cx="2809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形成「问题→行动→解决」闭环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看见自己</a:t>
            </a: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每日觉察手账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03 / 06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4" name="" descr="&lt;Slide notes={`AI 在这里不是替你写日记，而是帮你和自己对话。它承担三个角色。&#10;&#10;第一，情绪命名助手。你写一句「我今天很不舒服」，AI 会结合上下文帮你找到精准的词——是委屈、焦虑，还是无力？心理学研究表明，能准确命名情绪的人，情绪调节能力显著更强。&#10;&#10;第二，模式识别引擎。它每周每月自动分析你的全部记录，识别高频情绪、身体信号和触发场景，生成可视化报告，把「感觉」变成「数据」。&#10;&#10;第三，行动建议生成器。发现反复困扰的模式后，基于历史记录给你个性化的建议。比如它会说，过去两周你多次因为会议发言而焦虑，要不要试试提前准备一份发言提纲？&#10;&#10;这里有个参考，AI 日记应用 Rosebud 拿到了六百万美元的融资，它的核心理念就是同一个——用 AI 把静态记录变成动态对话。`} style={{ width: 1280, height: 720, background: '#FAF8F5', padding: '0 80px' }}&gt;&#10;  {/* A 标题块 */}&#10;  &lt;Box style={{ height: 120, paddingTop: 24, justifyContent: 'center' }}&gt;&#10;    &lt;Text style={{ fontSize: 34, fontWeight: 'bold', color: '#3F3B36', letterSpacing: 1 }}&gt;AI 不是替你写日记，是帮你和自己对话&lt;/Text&gt;&#10;  &lt;/Box&gt;&#10;  {/* B 内容区：左标题 30% + 右内容 70% */}&#10;  &lt;Box style={{ height: 540, flexDirection: 'row', alignItems: 'stretch', gap: 28 }}&gt;&#10;    {/* 左标题栏 */}&#10;    &lt;Box style={{ flex: 30, borderRadius: 20, background: 'linear-gradient(135deg, #5A7D7C 0%, #4A6B6A 100%)', padding: 30, flexDirection: 'column', justifyContent: 'center' }}&gt;&#10;      &lt;Text style={{ fontSize: 26, fontWeight: 600, color: '#FFFFFF', lineHeight: 1.45, marginBottom: 20 }}&gt;&#10;        AI 的三个角色&#10;      &lt;/Text&gt;&#10;      &lt;Text style={{ fontSize: 17, color: '#E8F2F1', lineHeight: 1.7 }}&gt;&#10;        把「静态记录」变成「动态对话」&#10;      &lt;/Text&gt;&#10;      &lt;Box style={{ width: 48, height: 4, background: '#F5E6E8', borderRadius: 2, marginTop: 20 }} /&gt;&#10;    &lt;/Box&gt;&#10;    {/* 右：三角色 */}&#10;    &lt;Box style={{ flex: 70, flexDirection: 'column', gap: 16 }}&gt;&#10;      {[&#10;        { n: '1', t: '情绪命名助手', d: '写「我今天很不舒服」→ AI 基于上下文推荐精准情绪词（委屈？焦虑？无力？）', note: '心理学：能准确命名情绪的人，调节能力显著更强', c: '#F5E6E8', ic: 'tag' },&#10;        { n: '2', t: '模式识别引擎', d: '每周/每月自动分析所有记录，识别高频情绪、身体信号、触发场景，生成可视化报告', note: '让「感觉」变成「数据」', c: '#E8EEF2', ic: 'magnifying-glass-chart' },&#10;        { n: '3', t: '行动建议生成器', d: '发现反复困扰模式后，基于历史记录生成个性化行动建议', note: '例：「过去两周你多次因会议发言焦虑，要不要提前准备提纲？」', c: '#E3ECEB', ic: 'lightbulb' },&#10;      ].map((it) =&gt; (&#10;        &lt;Box key={it.n} style={{ flex: 1, borderRadius: 16, background: it.c, padding: '14px 20px', flexDirection: 'row', alignItems: 'center', gap: 16 }}&gt;&#10;          &lt;Box style={{ width: 44, height: 44, borderRadius: 14, background: '#FFFFFF', justifyContent: 'center', alignItems: 'center', flexShrink: 0 }}&gt;&#10;            &lt;Text style={{ fontSize: 20, fontWeight: 'bold', color: '#5A7D7C' }}&gt;{it.n}&lt;/Text&gt;&#10;          &lt;/Box&gt;&#10;          &lt;Box style={{ flex: 1 }}&gt;&#10;            &lt;Box style={{ flexDirection: 'row', alignItems: 'center', gap: 8, marginBottom: 4 }}&gt;&#10;              &lt;FAIcon name={it.ic} style={{ fill: '#5A7D7C', width: 16, height: 16 }} /&gt;&#10;              &lt;Text style={{ fontSize: 19, fontWeight: 600, color: '#3F3B36' }}&gt;{it.t}&lt;/Text&gt;&#10;            &lt;/Box&gt;&#10;            &lt;Text style={{ fontSize: 15, color: '#4A4A44', lineHeight: 1.5 }}&gt;{it.d}&lt;/Text&gt;&#10;            &lt;Text style={{ fontSize: 14, color: '#C98A8A', lineHeight: 1.5, marginTop: 3 }}&gt;{it.note}&lt;/Text&gt;&#10;          &lt;/Box&gt;&#10;        &lt;/Box&gt;&#10;      ))}&#10;    &lt;/Box&gt;&#10;  &lt;/Box&gt;&#10;  {/* C 页脚条 */}&#10;  &lt;Box style={{ height: 60, flexDirection: 'row', alignItems: 'center', justifyContent: 'space-between', paddingBottom: 20 }}&gt;&#10;    &lt;Text style={{ fontSize: 14, color: '#8B8680' }}&gt;看见自己 · 每日觉察手账&lt;/Text&gt;&#10;    &lt;Text style={{ fontSize: 14, color: '#8B8680' }}&gt;04 / 0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62000" y="495300"/>
            <a:ext cx="10668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75">
                <a:solidFill>
                  <a:srgbClr val="3F3B36"/>
                </a:solidFill>
                <a:latin typeface="Microsoft YaHei"/>
                <a:ea typeface="Microsoft YaHei"/>
              </a:rPr>
              <a:t>AI </a:t>
            </a:r>
            <a:r>
              <a:rPr lang="zh-CN" sz="2550" b="1" spc="75">
                <a:solidFill>
                  <a:srgbClr val="3F3B36"/>
                </a:solidFill>
                <a:latin typeface="Microsoft YaHei"/>
                <a:ea typeface="Microsoft YaHei"/>
              </a:rPr>
              <a:t>不是替你写日记，是帮你和自己对话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62000" y="1143000"/>
            <a:ext cx="3124200" cy="5143500"/>
          </a:xfrm>
          <a:prstGeom prst="roundRect">
            <a:avLst>
              <a:gd name="adj" fmla="val 6098"/>
            </a:avLst>
          </a:prstGeom>
          <a:gradFill>
            <a:gsLst>
              <a:gs pos="0">
                <a:srgbClr val="5A7D7C"/>
              </a:gs>
              <a:gs pos="100000">
                <a:srgbClr val="4A6B6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047750" y="3124200"/>
            <a:ext cx="25527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的三个角色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47750" y="3752850"/>
            <a:ext cx="25527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F2F1"/>
                </a:solidFill>
                <a:latin typeface="Microsoft YaHei"/>
                <a:ea typeface="Microsoft YaHei"/>
              </a:rPr>
              <a:t>把「静态记录」变成「动态对话」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1047750" y="427672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5E6E8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4152900" y="1143000"/>
            <a:ext cx="7277100" cy="1609725"/>
          </a:xfrm>
          <a:prstGeom prst="roundRect">
            <a:avLst>
              <a:gd name="adj" fmla="val 9467"/>
            </a:avLst>
          </a:prstGeom>
          <a:solidFill>
            <a:srgbClr val="F5E6E8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4343400" y="1743075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495800" y="183832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5A7D7C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14900" y="1590675"/>
            <a:ext cx="152400" cy="15240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143500" y="1552575"/>
            <a:ext cx="1114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F3B36"/>
                </a:solidFill>
                <a:latin typeface="Microsoft YaHei"/>
                <a:ea typeface="Microsoft YaHei"/>
              </a:rPr>
              <a:t>情绪命名助手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914900" y="1809750"/>
            <a:ext cx="632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写「我今天很不舒服」→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基于上下文推荐精准情绪词（委屈？焦虑？无力？）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914900" y="2095500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98A8A"/>
                </a:solidFill>
                <a:latin typeface="Microsoft YaHei"/>
                <a:ea typeface="Microsoft YaHei"/>
              </a:rPr>
              <a:t>心理学：能准确命名情绪的人，调节能力显著更强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4152900" y="2905125"/>
            <a:ext cx="7277100" cy="1619250"/>
          </a:xfrm>
          <a:prstGeom prst="roundRect">
            <a:avLst>
              <a:gd name="adj" fmla="val 9412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4343400" y="35052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495800" y="360045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5A7D7C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914900" y="3362325"/>
            <a:ext cx="152400" cy="15240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143500" y="3324225"/>
            <a:ext cx="1114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F3B36"/>
                </a:solidFill>
                <a:latin typeface="Microsoft YaHei"/>
                <a:ea typeface="Microsoft YaHei"/>
              </a:rPr>
              <a:t>模式识别引擎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914900" y="3581400"/>
            <a:ext cx="632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每周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每月自动分析所有记录，识别高频情绪、身体信号、触发场景，生成可视化报告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914900" y="3867150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98A8A"/>
                </a:solidFill>
                <a:latin typeface="Microsoft YaHei"/>
                <a:ea typeface="Microsoft YaHei"/>
              </a:rPr>
              <a:t>让「感觉」变成「数据」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152900" y="4676775"/>
            <a:ext cx="7277100" cy="1609725"/>
          </a:xfrm>
          <a:prstGeom prst="roundRect">
            <a:avLst>
              <a:gd name="adj" fmla="val 9467"/>
            </a:avLst>
          </a:prstGeom>
          <a:solidFill>
            <a:srgbClr val="E3ECEB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343400" y="527685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495800" y="537210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5A7D7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914900" y="5124450"/>
            <a:ext cx="152400" cy="15240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143500" y="5086350"/>
            <a:ext cx="1295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F3B36"/>
                </a:solidFill>
                <a:latin typeface="Microsoft YaHei"/>
                <a:ea typeface="Microsoft YaHei"/>
              </a:rPr>
              <a:t>行动建议生成器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914900" y="5343525"/>
            <a:ext cx="632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发现反复困扰模式后，基于历史记录生成个性化行动建议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914900" y="5629275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98A8A"/>
                </a:solidFill>
                <a:latin typeface="Microsoft YaHei"/>
                <a:ea typeface="Microsoft YaHei"/>
              </a:rPr>
              <a:t>例：「过去两周你多次因会议发言焦虑，要不要提前准备提纲？」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看见自己</a:t>
            </a: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每日觉察手账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4" name="" descr="&lt;Slide notes={`最后讲 Token 优化。行业里 AI 推理费用往往占到总成本六成五以上，三成的项目因为 Token 消耗失控，被迫砍掉功能。我们要让 AI 能力可持续，而不是变成吞金兽，做了三件事。&#10;&#10;第一，结构化输入。情绪和身体感受用下拉选择，而不是自由文本，每次记录就能省下三到四成的 Prompt Token。&#10;&#10;第二，智能摘要。复盘的时候，AI 不读全部原始记录，而是读预处理过的结构化摘要，保留核心信息，扔掉冗余的推理链。&#10;&#10;第三，分层调用。日常记录完全走前端本地，用到 AI 的只有周报生成和用户主动触发的行动建议。&#10;&#10;效果很明显：单用户月均 AI 成本控制在两块钱以内，相比全自由文本方案，Token 消耗降低一半以上。`} style={{ width: 1280, height: 720, background: '#FAF8F5', padding: '0 80px' }}&gt;&#10;  {/* A 标题块 */}&#10;  &lt;Box style={{ height: 110, paddingTop: 22, justifyContent: 'center' }}&gt;&#10;    &lt;Text style={{ fontSize: 32, fontWeight: 'bold', color: '#3F3B36', letterSpacing: 1 }}&gt;让 AI 能力可持续，而非「吞金兽」&lt;/Text&gt;&#10;  &lt;/Box&gt;&#10;  {/* B 内容区：上三策略 + 下数据锚点 */}&#10;  &lt;Box style={{ height: 550, flexDirection: 'column', gap: 18 }}&gt;&#10;    {/* 上：三策略 */}&#10;    &lt;Box style={{ flex: 1, flexDirection: 'row', gap: 18 }}&gt;&#10;      {[&#10;        { n: '策略一', t: '结构化输入', d: '下拉选项选情绪/身体，而非自由文本', v: '省 30–40% Prompt Token', c: '#FFFFFF', b: '1px solid rgba(90,125,124,0.15)' },&#10;        { n: '策略二', t: '智能摘要', d: '复盘读预处理的结构化摘要，不读全部原始记录', v: '动态压缩，扔掉冗余推理链', c: '#E8EEF2', b: 'none' },&#10;        { n: '策略三', t: '分层调用', d: '日常记录零 AI · 周报一次 AI · 行动建议用户触发', v: '按需使用 AI', c: '#FFFFFF', b: '1px solid rgba(90,125,124,0.15)' },&#10;      ].map((it) =&gt; (&#10;        &lt;Box key={it.n} style={{ flex: 1, borderRadius: 16, background: it.c, border: it.b, padding: 20, flexDirection: 'column', justifyContent: 'space-between' }}&gt;&#10;          &lt;Box&gt;&#10;            &lt;Text style={{ fontSize: 15, fontWeight: 'bold', color: '#C98A8A', letterSpacing: 1, marginBottom: 6 }}&gt;{it.n}&lt;/Text&gt;&#10;            &lt;Text style={{ fontSize: 21, fontWeight: 600, color: '#3F3B36', marginBottom: 8 }}&gt;{it.t}&lt;/Text&gt;&#10;            &lt;Text style={{ fontSize: 15, color: '#4A4A44', lineHeight: 1.55 }}&gt;{it.d}&lt;/Text&gt;&#10;          &lt;/Box&gt;&#10;          &lt;Box style={{ flexDirection: 'row', alignItems: 'center', gap: 8, marginTop: 12 }}&gt;&#10;            &lt;FAIcon name='check-circle' style={{ fill: '#5A7D7C', width: 16, height: 16 }} /&gt;&#10;            &lt;Text style={{ fontSize: 14, color: '#5A7D7C', fontWeight: 600 }}&gt;{it.v}&lt;/Text&gt;&#10;          &lt;/Box&gt;&#10;        &lt;/Box&gt;&#10;      ))}&#10;    &lt;/Box&gt;&#10;    {/* 下：数据锚点 */}&#10;    &lt;Box style={{ flex: 1, borderRadius: 20, background: 'linear-gradient(135deg, #5A7D7C 0%, #4A6B6A 100%)', flexDirection: 'row', alignItems: 'center', gap: 40, padding: '0 40px' }}&gt;&#10;      &lt;Box style={{ flexDirection: 'column', flex: 1 }}&gt;&#10;        &lt;Text style={{ fontSize: 56, fontWeight: 'bold', color: '#F5E6E8', lineHeight: 1 }}&gt;≤2 元&lt;/Text&gt;&#10;        &lt;Text style={{ fontSize: 16, color: '#E8F2F1', marginTop: 8 }}&gt;单用户月均 AI 调用成本&lt;/Text&gt;&#10;      &lt;/Box&gt;&#10;      &lt;Box style={{ width: 1, height: 70, background: 'rgba(255,255,255,0.25)' }} /&gt;&#10;      &lt;Box style={{ flexDirection: 'column', flex: 1 }}&gt;&#10;        &lt;Text style={{ fontSize: 56, fontWeight: 'bold', color: '#F5E6E8', lineHeight: 1 }}&gt;50%+&lt;/Text&gt;&#10;        &lt;Text style={{ fontSize: 16, color: '#E8F2F1', marginTop: 8 }}&gt;相比全自由文本，Token 消耗降低&lt;/Text&gt;&#10;      &lt;/Box&gt;&#10;      &lt;Box style={{ width: 1, height: 70, background: 'rgba(255,255,255,0.25)' }} /&gt;&#10;      &lt;Box style={{ flexDirection: 'column', flex: 1.4 }}&gt;&#10;        &lt;Text style={{ fontSize: 18, color: '#E8F2F1', lineHeight: 1.6 }}&gt;行业现状：AI 推理费用占比超 &lt;span style={{ fontWeight: 'bold', color: '#FFFFFF' }}&gt;65%&lt;/span&gt;，30% 项目因 Token 失控被迫缩减功能&lt;/Text&gt;&#10;      &lt;/Box&gt;&#10;    &lt;/Box&gt;&#10;  &lt;/Box&gt;&#10;  {/* C 页脚条 */}&#10;  &lt;Box style={{ height: 60, flexDirection: 'row', alignItems: 'center', justifyContent: 'space-between', paddingBottom: 20 }}&gt;&#10;    &lt;Text style={{ fontSize: 14, color: '#8B8680' }}&gt;看见自己 · 每日觉察手账&lt;/Text&gt;&#10;    &lt;Text style={{ fontSize: 14, color: '#8B8680' }}&gt;05 / 0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62000" y="447675"/>
            <a:ext cx="1066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75">
                <a:solidFill>
                  <a:srgbClr val="3F3B36"/>
                </a:solidFill>
                <a:latin typeface="Microsoft YaHei"/>
                <a:ea typeface="Microsoft YaHei"/>
              </a:rPr>
              <a:t>让</a:t>
            </a:r>
            <a:r>
              <a:rPr lang="en-US" sz="2400" b="1" spc="75">
                <a:solidFill>
                  <a:srgbClr val="3F3B36"/>
                </a:solidFill>
                <a:latin typeface="Microsoft YaHei"/>
                <a:ea typeface="Microsoft YaHei"/>
              </a:rPr>
              <a:t> AI </a:t>
            </a:r>
            <a:r>
              <a:rPr lang="zh-CN" sz="2400" b="1" spc="75">
                <a:solidFill>
                  <a:srgbClr val="3F3B36"/>
                </a:solidFill>
                <a:latin typeface="Microsoft YaHei"/>
                <a:ea typeface="Microsoft YaHei"/>
              </a:rPr>
              <a:t>能力可持续，而非「吞金兽」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762000" y="1047750"/>
            <a:ext cx="3438525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5A7D7C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52500" y="1238250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C98A8A"/>
                </a:solidFill>
                <a:latin typeface="Microsoft YaHei"/>
                <a:ea typeface="Microsoft YaHei"/>
              </a:rPr>
              <a:t>策略一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52500" y="1466850"/>
            <a:ext cx="3057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3F3B36"/>
                </a:solidFill>
                <a:latin typeface="Microsoft YaHei"/>
                <a:ea typeface="Microsoft YaHei"/>
              </a:rPr>
              <a:t>结构化输入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52500" y="1790700"/>
            <a:ext cx="30575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下拉选项选情绪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身体，而非自由文本</a:t>
            </a:r>
            <a:endParaRPr/>
          </a:p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3657600"/>
            <a:ext cx="152400" cy="15240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81100" y="3648075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A7D7C"/>
                </a:solidFill>
                <a:latin typeface="Microsoft YaHei"/>
                <a:ea typeface="Microsoft YaHei"/>
              </a:rPr>
              <a:t>省</a:t>
            </a:r>
            <a:r>
              <a:rPr lang="en-US" sz="1050" b="1">
                <a:solidFill>
                  <a:srgbClr val="5A7D7C"/>
                </a:solidFill>
                <a:latin typeface="Microsoft YaHei"/>
                <a:ea typeface="Microsoft YaHei"/>
              </a:rPr>
              <a:t> 30–40% Prompt Token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371975" y="1047750"/>
            <a:ext cx="3448050" cy="2952750"/>
          </a:xfrm>
          <a:prstGeom prst="roundRect">
            <a:avLst>
              <a:gd name="adj" fmla="val 5161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562475" y="1238250"/>
            <a:ext cx="306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C98A8A"/>
                </a:solidFill>
                <a:latin typeface="Microsoft YaHei"/>
                <a:ea typeface="Microsoft YaHei"/>
              </a:rPr>
              <a:t>策略二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562475" y="1466850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3F3B36"/>
                </a:solidFill>
                <a:latin typeface="Microsoft YaHei"/>
                <a:ea typeface="Microsoft YaHei"/>
              </a:rPr>
              <a:t>智能摘要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562475" y="1790700"/>
            <a:ext cx="3067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复盘读预处理的结构化摘要，不读全部原始记录</a:t>
            </a:r>
            <a:endParaRPr/>
          </a:p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62475" y="3657600"/>
            <a:ext cx="152400" cy="15240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791075" y="3648075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A7D7C"/>
                </a:solidFill>
                <a:latin typeface="Microsoft YaHei"/>
                <a:ea typeface="Microsoft YaHei"/>
              </a:rPr>
              <a:t>动态压缩，扔掉冗余推理链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991475" y="1047750"/>
            <a:ext cx="3438525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5A7D7C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181975" y="1238250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C98A8A"/>
                </a:solidFill>
                <a:latin typeface="Microsoft YaHei"/>
                <a:ea typeface="Microsoft YaHei"/>
              </a:rPr>
              <a:t>策略三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181975" y="1466850"/>
            <a:ext cx="3057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3F3B36"/>
                </a:solidFill>
                <a:latin typeface="Microsoft YaHei"/>
                <a:ea typeface="Microsoft YaHei"/>
              </a:rPr>
              <a:t>分层调用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181975" y="1790700"/>
            <a:ext cx="3057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日常记录零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AI ·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周报一次</a:t>
            </a:r>
            <a:r>
              <a:rPr lang="en-US" sz="1125">
                <a:solidFill>
                  <a:srgbClr val="4A4A44"/>
                </a:solidFill>
                <a:latin typeface="Microsoft YaHei"/>
                <a:ea typeface="Microsoft YaHei"/>
              </a:rPr>
              <a:t> AI · </a:t>
            </a:r>
            <a:r>
              <a:rPr lang="zh-CN" sz="1125">
                <a:solidFill>
                  <a:srgbClr val="4A4A44"/>
                </a:solidFill>
                <a:latin typeface="Microsoft YaHei"/>
                <a:ea typeface="Microsoft YaHei"/>
              </a:rPr>
              <a:t>行动建议用户触发</a:t>
            </a:r>
            <a:endParaRPr/>
          </a:p>
        </p:txBody>
      </p:sp>
      <p:pic>
        <p:nvPicPr>
          <p:cNvPr id="1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81975" y="3657600"/>
            <a:ext cx="152400" cy="152400"/>
          </a:xfrm>
          <a:prstGeom prst="rect">
            <a:avLst/>
          </a:prstGeom>
          <a:ln/>
        </p:spPr>
      </p:pic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410575" y="36480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A7D7C"/>
                </a:solidFill>
                <a:latin typeface="Microsoft YaHei"/>
                <a:ea typeface="Microsoft YaHei"/>
              </a:rPr>
              <a:t>按需使用</a:t>
            </a:r>
            <a:r>
              <a:rPr lang="en-US" sz="1050" b="1">
                <a:solidFill>
                  <a:srgbClr val="5A7D7C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62000" y="4171950"/>
            <a:ext cx="10668000" cy="2114550"/>
          </a:xfrm>
          <a:prstGeom prst="roundRect">
            <a:avLst>
              <a:gd name="adj" fmla="val 9009"/>
            </a:avLst>
          </a:prstGeom>
          <a:gradFill>
            <a:gsLst>
              <a:gs pos="0">
                <a:srgbClr val="5A7D7C"/>
              </a:gs>
              <a:gs pos="100000">
                <a:srgbClr val="4A6B6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43000" y="4772025"/>
            <a:ext cx="24574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E6E8"/>
                </a:solidFill>
                <a:latin typeface="Microsoft YaHei"/>
                <a:ea typeface="Microsoft YaHei"/>
              </a:rPr>
              <a:t>≤2 </a:t>
            </a:r>
            <a:r>
              <a:rPr lang="zh-CN" sz="4200" b="1">
                <a:solidFill>
                  <a:srgbClr val="F5E6E8"/>
                </a:solidFill>
                <a:latin typeface="Microsoft YaHei"/>
                <a:ea typeface="Microsoft YaHei"/>
              </a:rPr>
              <a:t>元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43000" y="5495925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F2F1"/>
                </a:solidFill>
                <a:latin typeface="Microsoft YaHei"/>
                <a:ea typeface="Microsoft YaHei"/>
              </a:rPr>
              <a:t>单用户月均</a:t>
            </a:r>
            <a:r>
              <a:rPr lang="en-US" sz="1200">
                <a:solidFill>
                  <a:srgbClr val="E8F2F1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E8F2F1"/>
                </a:solidFill>
                <a:latin typeface="Microsoft YaHei"/>
                <a:ea typeface="Microsoft YaHei"/>
              </a:rPr>
              <a:t>调用成本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981450" y="4895850"/>
            <a:ext cx="9525" cy="6667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371975" y="4772025"/>
            <a:ext cx="24574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E6E8"/>
                </a:solidFill>
                <a:latin typeface="Microsoft YaHei"/>
                <a:ea typeface="Microsoft YaHei"/>
              </a:rPr>
              <a:t>50%+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371975" y="5495925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F2F1"/>
                </a:solidFill>
                <a:latin typeface="Microsoft YaHei"/>
                <a:ea typeface="Microsoft YaHei"/>
              </a:rPr>
              <a:t>相比全自由文本，</a:t>
            </a:r>
            <a:r>
              <a:rPr lang="en-US" sz="1200">
                <a:solidFill>
                  <a:srgbClr val="E8F2F1"/>
                </a:solidFill>
                <a:latin typeface="Microsoft YaHei"/>
                <a:ea typeface="Microsoft YaHei"/>
              </a:rPr>
              <a:t>Token </a:t>
            </a:r>
            <a:r>
              <a:rPr lang="zh-CN" sz="1200">
                <a:solidFill>
                  <a:srgbClr val="E8F2F1"/>
                </a:solidFill>
                <a:latin typeface="Microsoft YaHei"/>
                <a:ea typeface="Microsoft YaHei"/>
              </a:rPr>
              <a:t>消耗降低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7210425" y="4895850"/>
            <a:ext cx="9525" cy="6667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600950" y="4895850"/>
            <a:ext cx="34480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8F2F1"/>
                </a:solidFill>
                <a:latin typeface="Microsoft YaHei"/>
                <a:ea typeface="Microsoft YaHei"/>
              </a:rPr>
              <a:t>行业现状：</a:t>
            </a:r>
            <a:r>
              <a:rPr lang="en-US" sz="1350">
                <a:solidFill>
                  <a:srgbClr val="E8F2F1"/>
                </a:solidFill>
                <a:latin typeface="Microsoft YaHei"/>
                <a:ea typeface="Microsoft YaHei"/>
              </a:rPr>
              <a:t>AI </a:t>
            </a:r>
            <a:r>
              <a:rPr lang="zh-CN" sz="1350">
                <a:solidFill>
                  <a:srgbClr val="E8F2F1"/>
                </a:solidFill>
                <a:latin typeface="Microsoft YaHei"/>
                <a:ea typeface="Microsoft YaHei"/>
              </a:rPr>
              <a:t>推理费用占比超</a:t>
            </a:r>
            <a:r>
              <a:rPr lang="en-US" sz="1350">
                <a:solidFill>
                  <a:srgbClr val="E8F2F1"/>
                </a:solidFill>
                <a:latin typeface="Microsoft YaHei"/>
                <a:ea typeface="Microsoft YaHei"/>
              </a:rPr>
              <a:t> 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65%</a:t>
            </a:r>
            <a:r>
              <a:rPr lang="zh-CN" sz="1350">
                <a:solidFill>
                  <a:srgbClr val="E8F2F1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E8F2F1"/>
                </a:solidFill>
                <a:latin typeface="Microsoft YaHei"/>
                <a:ea typeface="Microsoft YaHei"/>
              </a:rPr>
              <a:t>30% </a:t>
            </a:r>
            <a:r>
              <a:rPr lang="zh-CN" sz="1350">
                <a:solidFill>
                  <a:srgbClr val="E8F2F1"/>
                </a:solidFill>
                <a:latin typeface="Microsoft YaHei"/>
                <a:ea typeface="Microsoft YaHei"/>
              </a:rPr>
              <a:t>项目因</a:t>
            </a:r>
            <a:r>
              <a:rPr lang="en-US" sz="1350">
                <a:solidFill>
                  <a:srgbClr val="E8F2F1"/>
                </a:solidFill>
                <a:latin typeface="Microsoft YaHei"/>
                <a:ea typeface="Microsoft YaHei"/>
              </a:rPr>
              <a:t> Token </a:t>
            </a:r>
            <a:r>
              <a:rPr lang="zh-CN" sz="1350">
                <a:solidFill>
                  <a:srgbClr val="E8F2F1"/>
                </a:solidFill>
                <a:latin typeface="Microsoft YaHei"/>
                <a:ea typeface="Microsoft YaHei"/>
              </a:rPr>
              <a:t>失控被迫缩减功能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看见自己</a:t>
            </a: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8680"/>
                </a:solidFill>
                <a:latin typeface="Microsoft YaHei"/>
                <a:ea typeface="Microsoft YaHei"/>
              </a:rPr>
              <a:t>每日觉察手账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8680"/>
                </a:solidFill>
                <a:latin typeface="Microsoft YaHei"/>
                <a:ea typeface="Microsoft YaHei"/>
              </a:rPr>
              <a:t>05 / 06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5" name="" descr="&lt;Slide notes={`看见自己，是改变的开始。你值得被自己看见。谢谢各位评委老师。`} style={{ width: 1280, height: 720, background: '#FAF8F5', position: 'relative' }}&gt;&#10;  &lt;Box style={{ position: 'absolute', top: 80, right: 100, width: 500, height: 500, borderRadius: 250, background: 'radial-gradient(circle, rgba(245,230,232,0.9) 0%, rgba(245,230,232,0) 70%)' }} /&gt;&#10;  &lt;Box style={{ position: 'absolute', bottom: 60, left: 80, width: 420, height: 420, borderRadius: 210, background: 'radial-gradient(circle, rgba(232,238,242,0.9) 0%, rgba(232,238,242,0) 70%)' }} /&gt;&#10;  &lt;Box style={{ position: 'relative', zIndex: 1, width: 1280, height: 720, flexDirection: 'column', justifyContent: 'center', alignItems: 'center', padding: '0 120px' }}&gt;&#10;    &lt;Box style={{ flexDirection: 'row', alignItems: 'center', gap: 14, marginBottom: 32 }}&gt;&#10;      &lt;Box style={{ width: 60, height: 60, borderRadius: 30, background: '#F5E6E8', justifyContent: 'center', alignItems: 'center' }}&gt;&#10;        &lt;FAIcon name='heart' style={{ fill: '#C98A8A', width: 30, height: 30 }} /&gt;&#10;      &lt;/Box&gt;&#10;      &lt;Text style={{ fontSize: 20, color: '#5A7D7C', letterSpacing: 2 }}&gt;看见自己 · 每日觉察手账&lt;/Text&gt;&#10;    &lt;/Box&gt;&#10;    &lt;Text style={{ fontSize: 56, fontWeight: 'bold', color: '#3F3B36', lineHeight: 1.5, textAlign: 'center', letterSpacing: 1 }}&gt;&#10;      看见自己，是改变的开始&#10;    &lt;/Text&gt;&#10;    &lt;Box style={{ width: 64, height: 5, background: '#5A7D7C', borderRadius: 3, marginTop: 34, marginBottom: 26 }} /&gt;&#10;    &lt;Text style={{ fontSize: 26, color: '#C98A8A', letterSpacing: 2, fontStyle: 'italic' }}&gt;&#10;      你值得被自己看见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6477000" y="762000"/>
            <a:ext cx="4762500" cy="476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5E6E8">
                  <a:alpha val="90000"/>
                </a:srgbClr>
              </a:gs>
              <a:gs pos="70000">
                <a:srgbClr val="F5E6E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762000" y="2286000"/>
            <a:ext cx="4000500" cy="4000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EEF2">
                  <a:alpha val="90000"/>
                </a:srgbClr>
              </a:gs>
              <a:gs pos="70000">
                <a:srgbClr val="E8EEF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4562475" y="204787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5E6E8"/>
          </a:solidFill>
          <a:ln/>
        </p:spPr>
        <p:txBody>
          <a:bodyPr/>
          <a:p/>
        </p:txBody>
      </p:sp>
      <p:pic>
        <p:nvPicPr>
          <p:cNvPr id="1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05350" y="2190750"/>
            <a:ext cx="285750" cy="285750"/>
          </a:xfrm>
          <a:prstGeom prst="rect">
            <a:avLst/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267325" y="2219325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5A7D7C"/>
                </a:solidFill>
                <a:latin typeface="Microsoft YaHei"/>
                <a:ea typeface="Microsoft YaHei"/>
              </a:rPr>
              <a:t>看见自己</a:t>
            </a:r>
            <a:r>
              <a:rPr lang="en-US" sz="1500" spc="150">
                <a:solidFill>
                  <a:srgbClr val="5A7D7C"/>
                </a:solidFill>
                <a:latin typeface="Microsoft YaHei"/>
                <a:ea typeface="Microsoft YaHei"/>
              </a:rPr>
              <a:t> · </a:t>
            </a:r>
            <a:r>
              <a:rPr lang="zh-CN" sz="1500" spc="150">
                <a:solidFill>
                  <a:srgbClr val="5A7D7C"/>
                </a:solidFill>
                <a:latin typeface="Microsoft YaHei"/>
                <a:ea typeface="Microsoft YaHei"/>
              </a:rPr>
              <a:t>每日觉察手账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095625" y="2924175"/>
            <a:ext cx="6000750" cy="9620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4200" b="1" spc="75">
                <a:solidFill>
                  <a:srgbClr val="3F3B36"/>
                </a:solidFill>
                <a:latin typeface="Microsoft YaHei"/>
                <a:ea typeface="Microsoft YaHei"/>
              </a:rPr>
              <a:t>看见自己，是改变的开始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5791200" y="4210050"/>
            <a:ext cx="609600" cy="47625"/>
          </a:xfrm>
          <a:prstGeom prst="roundRect">
            <a:avLst>
              <a:gd name="adj" fmla="val 60000"/>
            </a:avLst>
          </a:prstGeom>
          <a:solidFill>
            <a:srgbClr val="5A7D7C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019675" y="4505325"/>
            <a:ext cx="21621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i="1" spc="150">
                <a:solidFill>
                  <a:srgbClr val="C98A8A"/>
                </a:solidFill>
                <a:latin typeface="Microsoft YaHei"/>
                <a:ea typeface="Microsoft YaHei"/>
              </a:rPr>
              <a:t>你值得被自己看见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2026-08-23T12:58:20Z</dcterms:created>
  <dcterms:modified xsi:type="dcterms:W3CDTF">2026-08-23T12:58:20Z</dcterms:modified>
</cp:coreProperties>
</file>